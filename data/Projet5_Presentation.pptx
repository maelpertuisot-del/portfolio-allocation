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7" r:id="rId11"/>
    <p:sldId id="268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</c:v>
                </c:pt>
              </c:strCache>
            </c:strRef>
          </c:tx>
          <c:spPr>
            <a:solidFill>
              <a:schemeClr val="tx1">
                <a:lumMod val="85000"/>
                <a:lumOff val="15000"/>
                <a:alpha val="90000"/>
              </a:schemeClr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A1E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EW</c:v>
                </c:pt>
                <c:pt idx="1">
                  <c:v>Min Var</c:v>
                </c:pt>
                <c:pt idx="2">
                  <c:v>Max Sharpe ML</c:v>
                </c:pt>
                <c:pt idx="3">
                  <c:v>S&amp;P 500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1.1200000000000001</c:v>
                </c:pt>
                <c:pt idx="1">
                  <c:v>0.77</c:v>
                </c:pt>
                <c:pt idx="2">
                  <c:v>0.88</c:v>
                </c:pt>
                <c:pt idx="3">
                  <c:v>1.1200000000000001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FC-4ABE-9168-3029199266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59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B0B8A-F663-7C72-7E0C-066DED705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198ED-A365-B597-7B04-8799E8918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6F4E1-78FD-93D3-31F2-C6E91E7A9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1B674-4DEA-6566-D8B2-0FFB6956D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62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F567-E760-1EFA-DFDF-4EFB54B79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55F6E-C78E-832F-9B91-ABD7E06E4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1762E-6588-F9FA-49F1-9937D7B4D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2113F-C321-410B-BF5E-218737C36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79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0337-4A03-7A2F-856C-FB49DAB7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9F46D-DB09-1BB0-C948-B8758C01B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412BD-D854-72F8-BAAD-282BAE05A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18F1C-3968-CBD8-702E-E602524F47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57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766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FINANCE   /   PROJET 5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766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 de Portefeuille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766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Machine Learning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2766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actions NASDAQ  |  Prédiction ML + Optimisation Markowitz  |  Backtest walk-forward 2023–2025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27660" y="3474720"/>
            <a:ext cx="109728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GB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2766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2766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Mael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Pertuisot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Valentin Martel  -  Mathias Garnier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766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Encadrants : Nicolas De Roux &amp; Mohamed El Fakir  -  20 avril 2026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1F82E47-CF1A-3317-228A-454A47C1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052" y="105826"/>
            <a:ext cx="1439356" cy="9313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INTRODUCTION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Un portefeuille ML bat-il le marché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portefeuille qui maximise le rendement ajusté du risque, en utilisant des signaux ML appris sur données historiques.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INTÉRESSANT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Signal/bruit très faible : les marchés sont presque efficients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R² n'est pas la bonne mesure : la vraie métrique est le Sharpe net de coûts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 des limites du ML sur un cas réel de gestion d'actifs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3840480" cy="8686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937760" y="1801368"/>
            <a:ext cx="457200" cy="457200"/>
          </a:xfrm>
          <a:prstGeom prst="ellipse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911096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32120" y="1709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01.  PRÉDICTION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5532120" y="1984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hebdo prédits par ML (Linear, Ridge, RF, GRU)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2651760"/>
            <a:ext cx="3840480" cy="8686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937760" y="2852928"/>
            <a:ext cx="457200" cy="457200"/>
          </a:xfrm>
          <a:prstGeom prst="ellipse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962656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3212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02.  ALLOCATION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5532120" y="3035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 3 portefeuilles (EW, Min Var, Max Sharpe ML)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3703320"/>
            <a:ext cx="3840480" cy="8686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4937760" y="3904488"/>
            <a:ext cx="457200" cy="457200"/>
          </a:xfrm>
          <a:prstGeom prst="ellipse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4014216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532120" y="3813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  ÉVALUATION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5532120" y="4087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drawdown, turnover sur backtest 2023–2025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675120" y="2468880"/>
            <a:ext cx="0" cy="18288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2"/>
          <p:cNvSpPr/>
          <p:nvPr/>
        </p:nvSpPr>
        <p:spPr>
          <a:xfrm>
            <a:off x="6675120" y="3520440"/>
            <a:ext cx="0" cy="18288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DATASET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50 actions NASDAQ, 8 ans, 8 secteurs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92024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actions NASDAQ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large-cap, liquides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554480"/>
            <a:ext cx="192024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65176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5176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secteurs économiques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Tech, Santé, Conso…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554480"/>
            <a:ext cx="192024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~2 000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jours de trading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2018 à 2025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1554480"/>
            <a:ext cx="192024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04088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~100k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04088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panel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50 tickers × ~2000 j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127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TEMPOREL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5143500" cy="4114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57200" y="3429000"/>
            <a:ext cx="5143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-  2018 – 2022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00700" y="3429000"/>
            <a:ext cx="3086100" cy="41148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600700" y="3429000"/>
            <a:ext cx="3086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OOS  -  2023 – 2025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5760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72100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83880" y="3886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Source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yfinance (Adj Close, Volume)   -   </a:t>
            </a:r>
            <a:r>
              <a:rPr lang="en-US" sz="105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Benchmark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(^GSPC)   -   </a:t>
            </a:r>
            <a:r>
              <a:rPr lang="en-US" sz="105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Nettoyage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filtre NaN &gt; 5 %, backups sectoriels, forward-fill ponctuel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DATA EXPLORATION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Structure et régimes de marché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52EC2925-3404-41B4-8CF7-ADFB3C6F8E26}"/>
              </a:ext>
            </a:extLst>
          </p:cNvPr>
          <p:cNvGrpSpPr/>
          <p:nvPr/>
        </p:nvGrpSpPr>
        <p:grpSpPr>
          <a:xfrm>
            <a:off x="5810400" y="1747443"/>
            <a:ext cx="3200400" cy="2633472"/>
            <a:chOff x="5486400" y="1508760"/>
            <a:chExt cx="3383280" cy="3026664"/>
          </a:xfrm>
        </p:grpSpPr>
        <p:sp>
          <p:nvSpPr>
            <p:cNvPr id="9" name="Text 6"/>
            <p:cNvSpPr/>
            <p:nvPr/>
          </p:nvSpPr>
          <p:spPr>
            <a:xfrm>
              <a:off x="5486400" y="1508760"/>
              <a:ext cx="33832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FF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OBSERVATIONS CLÉS</a:t>
              </a:r>
              <a:endParaRPr lang="en-US" sz="900" dirty="0">
                <a:solidFill>
                  <a:srgbClr val="FF0000"/>
                </a:solidFill>
              </a:endParaRPr>
            </a:p>
          </p:txBody>
        </p:sp>
        <p:sp>
          <p:nvSpPr>
            <p:cNvPr id="10" name="Shape 7"/>
            <p:cNvSpPr/>
            <p:nvPr/>
          </p:nvSpPr>
          <p:spPr>
            <a:xfrm>
              <a:off x="5486400" y="1892808"/>
              <a:ext cx="109728" cy="109728"/>
            </a:xfrm>
            <a:prstGeom prst="ellipse">
              <a:avLst/>
            </a:prstGeom>
            <a:solidFill>
              <a:srgbClr val="FF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 8"/>
            <p:cNvSpPr/>
            <p:nvPr/>
          </p:nvSpPr>
          <p:spPr>
            <a:xfrm>
              <a:off x="5715000" y="1783080"/>
              <a:ext cx="3154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 et la finance </a:t>
              </a:r>
              <a:r>
                <a:rPr lang="en-US" sz="1200" b="1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dominent</a:t>
              </a:r>
              <a:endParaRPr lang="en-US" sz="1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5715000" y="2039112"/>
              <a:ext cx="3154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NVDA, AAPL, MSFT tirent la performance sur 8 ans</a:t>
              </a:r>
              <a:endParaRPr lang="en-US" sz="10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5486400" y="2587752"/>
              <a:ext cx="109728" cy="109728"/>
            </a:xfrm>
            <a:prstGeom prst="ellipse">
              <a:avLst/>
            </a:prstGeom>
            <a:solidFill>
              <a:srgbClr val="FF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 11"/>
            <p:cNvSpPr/>
            <p:nvPr/>
          </p:nvSpPr>
          <p:spPr>
            <a:xfrm>
              <a:off x="5715000" y="2478024"/>
              <a:ext cx="3154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Santé défensive</a:t>
              </a:r>
              <a:endParaRPr lang="en-US" sz="12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5715000" y="2734056"/>
              <a:ext cx="3154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Faible drawdown, volatilité </a:t>
              </a:r>
              <a:r>
                <a:rPr lang="en-US" sz="100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modérée</a:t>
              </a: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- profil anti-cyclique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5486400" y="3282696"/>
              <a:ext cx="109728" cy="109728"/>
            </a:xfrm>
            <a:prstGeom prst="ellipse">
              <a:avLst/>
            </a:prstGeom>
            <a:solidFill>
              <a:srgbClr val="FF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 14"/>
            <p:cNvSpPr/>
            <p:nvPr/>
          </p:nvSpPr>
          <p:spPr>
            <a:xfrm>
              <a:off x="5715000" y="3172968"/>
              <a:ext cx="3154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Chocs partagés</a:t>
              </a:r>
              <a:endParaRPr lang="en-US" sz="12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715000" y="3429000"/>
              <a:ext cx="3154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COVID 03/2020 et remontée taux Fed 2022 : volatilité &gt; 30 %</a:t>
              </a:r>
              <a:endParaRPr lang="en-US" sz="10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5486400" y="3977640"/>
              <a:ext cx="109728" cy="109728"/>
            </a:xfrm>
            <a:prstGeom prst="ellipse">
              <a:avLst/>
            </a:prstGeom>
            <a:solidFill>
              <a:srgbClr val="FF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 17"/>
            <p:cNvSpPr/>
            <p:nvPr/>
          </p:nvSpPr>
          <p:spPr>
            <a:xfrm>
              <a:off x="5715000" y="3867912"/>
              <a:ext cx="3154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Corrélations fortes</a:t>
              </a:r>
              <a:endParaRPr lang="en-US" sz="12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715000" y="4123944"/>
              <a:ext cx="3154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Secteurs cycliques très liés ; Utilities décorrélés</a:t>
              </a:r>
              <a:endParaRPr lang="en-US" sz="1000" dirty="0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897766-BD40-4D7D-351B-3AB8F558F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00" y="1467253"/>
            <a:ext cx="5564754" cy="3356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FEATURE ENGINEERING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15 features techniques + 8 one-hot sectoriels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776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21792" y="1764792"/>
            <a:ext cx="457200" cy="4572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865376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SIGNAUX COURT TERME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Dynamique locale des rendements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23444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ret_lag1 → ret_lag5</a:t>
            </a:r>
            <a:endParaRPr lang="en-US" sz="1000" dirty="0"/>
          </a:p>
          <a:p>
            <a:pPr marL="342900" indent="-342900">
              <a:buSzPct val="100000"/>
              <a:buChar char="●"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vol_10j, vol_20j (vol. réalisée)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600200"/>
            <a:ext cx="39776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873752" y="1764792"/>
            <a:ext cx="457200" cy="4572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86537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SIGNAUX TECHNIQUES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0" y="1965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Tendance, retournement, anomalie de momentum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48640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ma_ratio (MM5 / MM20)</a:t>
            </a:r>
            <a:endParaRPr lang="en-US" sz="1000" dirty="0"/>
          </a:p>
          <a:p>
            <a:pPr marL="342900" indent="-342900">
              <a:buSzPct val="100000"/>
              <a:buChar char="●"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RSI 14j, momentum 5j &amp; 20j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3063240"/>
            <a:ext cx="39776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621792" y="3227832"/>
            <a:ext cx="457200" cy="4572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32841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3444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SIGNAUX FLUX &amp; MARCHÉ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234440" y="3429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au facteur de marché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234440" y="3749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vol_rel : volume normalisé</a:t>
            </a:r>
            <a:endParaRPr lang="en-US" sz="1000" dirty="0"/>
          </a:p>
          <a:p>
            <a:pPr marL="342900" indent="-342900">
              <a:buSzPct val="100000"/>
              <a:buChar char="●"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corr_marche (fenêtre 30j)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09160" y="3063240"/>
            <a:ext cx="39776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4873752" y="3227832"/>
            <a:ext cx="457200" cy="4572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328416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SECTORIELLE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0" y="3429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Effets sectoriels sans structure imposée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486400" y="3749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One-hot 8 secteurs</a:t>
            </a:r>
            <a:endParaRPr lang="en-US" sz="1000" dirty="0"/>
          </a:p>
          <a:p>
            <a:pPr marL="342900" indent="-342900">
              <a:buSzPct val="100000"/>
              <a:buChar char="●"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Target : rendement 5j forward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cumulé sur les 5 prochains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</a:t>
            </a: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hebdomadaire, shift(-5) pour prévenir tout look-ahead bias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MODÉLISATION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modèles + walk-forward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920240" cy="1188720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920240" cy="3200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Baseline interprétable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554480"/>
            <a:ext cx="1920240" cy="1188720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651760" y="1554480"/>
            <a:ext cx="1920240" cy="3200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65176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L2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α = 10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554480"/>
            <a:ext cx="1920240" cy="1188720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846320" y="1554480"/>
            <a:ext cx="1920240" cy="3200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4632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Non-linéaire, ensembliste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100 arbres, depth=6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1554480"/>
            <a:ext cx="1920240" cy="1188720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040880" y="1554480"/>
            <a:ext cx="1920240" cy="3200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04088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Réseau récurrent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hidden=32, window=10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D'ENTRAÎNEMENT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7640" y="33832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3400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Panel cross-sectionnel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3400" y="3639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~100k obs (50 tickers × jours)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453640" y="33832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2819400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 train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819400" y="3639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Aucun data leakage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739640" y="33832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7" name="Text 33"/>
          <p:cNvSpPr/>
          <p:nvPr/>
        </p:nvSpPr>
        <p:spPr>
          <a:xfrm>
            <a:off x="5105400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(5 folds)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105400" y="3639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temporelle stricte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7025640" y="33832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41" name="Text 36"/>
          <p:cNvSpPr/>
          <p:nvPr/>
        </p:nvSpPr>
        <p:spPr>
          <a:xfrm>
            <a:off x="7391400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trimestriel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7391400" y="3639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chaque quarter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685800" y="4251960"/>
            <a:ext cx="7909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r>
              <a:rPr lang="en-US" sz="1000" b="1" kern="0" spc="300" dirty="0">
                <a:solidFill>
                  <a:srgbClr val="A08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 seul modèle pour 50 actions : apprentissage partagé des régularités communes (ex : momentum fonctionne similairement cross-stocks) + ~100k observations au lieu de 1 250 par ticker.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STRATÉGIES &amp; ÉVALUATION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Trois portefeuilles, une frontière, cinq métriques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444532"/>
              </p:ext>
            </p:extLst>
          </p:nvPr>
        </p:nvGraphicFramePr>
        <p:xfrm>
          <a:off x="457200" y="1600200"/>
          <a:ext cx="4754880" cy="1600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STRATÉGIE</a:t>
                      </a:r>
                      <a:endParaRPr lang="en-US" sz="10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PRINCIPE</a:t>
                      </a:r>
                      <a:endParaRPr lang="en-US" sz="10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?</a:t>
                      </a:r>
                      <a:endParaRPr lang="en-US" sz="10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wᵢ = 1/N, benchmark DeMiguel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w'Σw, Ledoit-Wolf 60j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Sharpe (ML)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(w'μ_ML)/√(w'Σw)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457200" y="3337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 -  long-only (wᵢ ≥ 0)  -  budget (Σw = 1)  -  rebalance hebdomadaire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32120" y="1508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D'ÉVALUATION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5532120" y="1856232"/>
            <a:ext cx="73152" cy="32004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rgbClr val="FF000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Rendement annualisé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1984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économique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32120" y="2368296"/>
            <a:ext cx="73152" cy="32004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rgbClr val="FF0000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15000" y="2295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Volatilité annualisée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2496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risque (std × √52)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32120" y="2880360"/>
            <a:ext cx="73152" cy="32004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rgbClr val="FF000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15000" y="2807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Ratio de Sharpe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15000" y="30083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perf. ajustée du risque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32120" y="3392424"/>
            <a:ext cx="73152" cy="32004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rgbClr val="FF0000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5715000" y="3319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71500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pire perte peak-to-trough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532120" y="3904488"/>
            <a:ext cx="73152" cy="32004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rgbClr val="FF0000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5715000" y="38313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715000" y="40325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rotation ≈ coût implicite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0A1E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 EFFICIENTE</a:t>
            </a:r>
            <a:r>
              <a:rPr lang="en-US" sz="10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action seule est dominée par un portefeuille diversifié : gain clair de la diversification de Markowitz.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1D455-648E-2363-E34A-8A5DDE5F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FDF8D0-B3AF-15AB-E8DB-2821DE0FE8BE}"/>
              </a:ext>
            </a:extLst>
          </p:cNvPr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STRATÉGIES &amp; ÉVALUATION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7C2396-4149-5453-D385-A418D6925220}"/>
              </a:ext>
            </a:extLst>
          </p:cNvPr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Trois portefeuilles, une frontière, cinq métriques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73E1D82-AB9A-BDA8-7468-843BAE50F7DA}"/>
              </a:ext>
            </a:extLst>
          </p:cNvPr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6E84B4-A971-3134-AE5F-7C991C036BDD}"/>
              </a:ext>
            </a:extLst>
          </p:cNvPr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11E736C-ECA0-5ADC-94B8-5B1A11269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236" y="1240582"/>
            <a:ext cx="6915528" cy="3747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95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RÉSULTATS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Backtest out-of-sample 2023 – 2025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775521"/>
              </p:ext>
            </p:extLst>
          </p:nvPr>
        </p:nvGraphicFramePr>
        <p:xfrm>
          <a:off x="457200" y="1508760"/>
          <a:ext cx="5760720" cy="23774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10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Variance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Sharpe (ML)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Rendement annualisé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19,2 %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Volatilité annualisée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de Sharpe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−15,4 %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−10,2 %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−18,1 %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−14,5 %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Turnover hebdo moyen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208520" y="1501140"/>
            <a:ext cx="1303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 SHARPE</a:t>
            </a:r>
            <a:endParaRPr lang="en-US" sz="900" dirty="0">
              <a:solidFill>
                <a:srgbClr val="FF0000"/>
              </a:solidFill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901341340"/>
              </p:ext>
            </p:extLst>
          </p:nvPr>
        </p:nvGraphicFramePr>
        <p:xfrm>
          <a:off x="6309360" y="1783080"/>
          <a:ext cx="26974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685800" y="4389120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sur 2023–2025 (bull tech), l'Equal Weight égale le S&amp;P 500. Min Var protège mieux en drawdown, Max Sharpe ML capte ~85 % du rendement brut mais paie </a:t>
            </a: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18 % de turnover hebdo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D065F5-B615-BDC8-DFFD-72FE6407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4A49D5-CE57-8445-81BA-065240A83241}"/>
              </a:ext>
            </a:extLst>
          </p:cNvPr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RÉSULTATS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82430E-1FE1-DE66-98BE-DA86635C3BA1}"/>
              </a:ext>
            </a:extLst>
          </p:cNvPr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Backtest out-of-sample 2023 – 2025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C575E78-0DF0-4D60-D87C-C53EB971F9A9}"/>
              </a:ext>
            </a:extLst>
          </p:cNvPr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02C2C7-0B59-3666-FFF9-F4C8EFC8B9E3}"/>
              </a:ext>
            </a:extLst>
          </p:cNvPr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EF01BDD-90F0-AFC9-F30D-03EDD711D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68" y="1333576"/>
            <a:ext cx="4232261" cy="372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B9E425DA-2008-8CDA-27F0-973E4586C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786" y="1297240"/>
            <a:ext cx="4422495" cy="380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248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CC6EC-481D-6C74-D4F6-50933503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67C377-2B69-1A98-E967-20AC9D228148}"/>
              </a:ext>
            </a:extLst>
          </p:cNvPr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RÉSULTATS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3CAAD1-981D-6CD5-1D86-02F7D7875F48}"/>
              </a:ext>
            </a:extLst>
          </p:cNvPr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Backtest out-of-sample 2023 – 2025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2EAFA4-15D7-BC22-D779-6A4DB20DDCEC}"/>
              </a:ext>
            </a:extLst>
          </p:cNvPr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519DFE-36A2-5501-7CD0-C1001CCAA6AF}"/>
              </a:ext>
            </a:extLst>
          </p:cNvPr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EC15C9A-03D5-5CE5-C8A6-EF88B14B4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72" y="1344168"/>
            <a:ext cx="4947394" cy="365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3D7BBD96-E069-B2D3-3521-00E1D4A8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766" y="1389888"/>
            <a:ext cx="3830185" cy="1698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4C8708DF-1678-0142-B5A2-D69BE14A0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627684"/>
              </p:ext>
            </p:extLst>
          </p:nvPr>
        </p:nvGraphicFramePr>
        <p:xfrm>
          <a:off x="5411541" y="3314700"/>
          <a:ext cx="3381234" cy="15087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27078">
                  <a:extLst>
                    <a:ext uri="{9D8B030D-6E8A-4147-A177-3AD203B41FA5}">
                      <a16:colId xmlns:a16="http://schemas.microsoft.com/office/drawing/2014/main" val="4061637377"/>
                    </a:ext>
                  </a:extLst>
                </a:gridCol>
                <a:gridCol w="1127078">
                  <a:extLst>
                    <a:ext uri="{9D8B030D-6E8A-4147-A177-3AD203B41FA5}">
                      <a16:colId xmlns:a16="http://schemas.microsoft.com/office/drawing/2014/main" val="3846935557"/>
                    </a:ext>
                  </a:extLst>
                </a:gridCol>
                <a:gridCol w="1127078">
                  <a:extLst>
                    <a:ext uri="{9D8B030D-6E8A-4147-A177-3AD203B41FA5}">
                      <a16:colId xmlns:a16="http://schemas.microsoft.com/office/drawing/2014/main" val="3927894134"/>
                    </a:ext>
                  </a:extLst>
                </a:gridCol>
              </a:tblGrid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Secteur</a:t>
                      </a:r>
                      <a:endParaRPr lang="en-GB" sz="105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Min Variance</a:t>
                      </a:r>
                      <a:endParaRPr lang="en-GB" sz="105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Max Sharpe (ML)</a:t>
                      </a:r>
                      <a:endParaRPr lang="en-GB" sz="105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60914814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Consommation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26,57%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26,03%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21292879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Technologie</a:t>
                      </a:r>
                      <a:endParaRPr lang="en-GB" sz="105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16,02%</a:t>
                      </a:r>
                      <a:endParaRPr lang="en-GB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17,80%</a:t>
                      </a:r>
                      <a:endParaRPr lang="en-GB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26926848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Santé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14,92%</a:t>
                      </a:r>
                      <a:endParaRPr lang="en-GB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15,71%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64790142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Utilities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13,52%</a:t>
                      </a:r>
                      <a:endParaRPr lang="en-GB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13,00%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54433907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Industrie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9,19%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7,97%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1033381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Télécom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8,15%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8,45%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29946520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Énergie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6,91%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5,77%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19387390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Finance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4,71%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5,29%</a:t>
                      </a:r>
                      <a:endParaRPr lang="en-GB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86476549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BFDE7DFF-D63D-83CF-B376-7A233B5D7AF8}"/>
              </a:ext>
            </a:extLst>
          </p:cNvPr>
          <p:cNvSpPr txBox="1"/>
          <p:nvPr/>
        </p:nvSpPr>
        <p:spPr>
          <a:xfrm>
            <a:off x="5411541" y="3088371"/>
            <a:ext cx="3497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b="1" i="0" dirty="0">
                <a:solidFill>
                  <a:srgbClr val="1F1F1F"/>
                </a:solidFill>
                <a:effectLst/>
                <a:latin typeface="+mj-lt"/>
              </a:rPr>
              <a:t>Poids moyen par secteur sur la période du </a:t>
            </a:r>
            <a:r>
              <a:rPr lang="fr-FR" sz="800" b="1" i="0" dirty="0" err="1">
                <a:solidFill>
                  <a:srgbClr val="1F1F1F"/>
                </a:solidFill>
                <a:effectLst/>
                <a:latin typeface="+mj-lt"/>
              </a:rPr>
              <a:t>backtest</a:t>
            </a:r>
            <a:r>
              <a:rPr lang="fr-FR" sz="800" b="1" i="0" dirty="0">
                <a:solidFill>
                  <a:srgbClr val="1F1F1F"/>
                </a:solidFill>
                <a:effectLst/>
                <a:latin typeface="+mj-lt"/>
              </a:rPr>
              <a:t> :</a:t>
            </a:r>
            <a:endParaRPr lang="en-GB" sz="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23387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08 - DISCUSSION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Ce qui marche, ce qui ne marche pas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11480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1148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 FONCTIONNÉ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969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1031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conforme au sujet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23591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50 NASDAQ, features techniques + sect., 4 modèles ML, 3 stratégies</a:t>
            </a:r>
            <a:endParaRPr lang="en-US" sz="9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98064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27614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temporelle rigoureuse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914400" y="3017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+ walk-forward trimestriel, zéro data leakage</a:t>
            </a:r>
            <a:endParaRPr lang="en-US" sz="9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56432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34198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stable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914400" y="3675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Shrinkage Ledoit-Wolf 60j - évite la singularité quand N ≈ T</a:t>
            </a:r>
            <a:endParaRPr lang="en-US" sz="9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0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40782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prouvée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914400" y="43342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Frontière efficiente domine toutes les actions individuelles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4754880" y="1554480"/>
            <a:ext cx="3931920" cy="41148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4937760" y="1554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 MOINS MARCHÉ / LIMITES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139696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12080" y="21031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R² très faible (structurel)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5212080" y="23591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Bruit domine le signal - normal en finance efficient-ish</a:t>
            </a:r>
            <a:endParaRPr lang="en-US" sz="9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98064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12080" y="27614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GRU sans gain net vs RF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521208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Features déjà temporelles, peu de données pour un réseau profond</a:t>
            </a:r>
            <a:endParaRPr lang="en-US" sz="95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56432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12080" y="34198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Max Sharpe bruité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5212080" y="36758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μ_ML imprécis → turnover élevé (Michaud 1989)</a:t>
            </a:r>
            <a:endParaRPr lang="en-US" sz="95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114800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12080" y="4078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Coûts transaction ignorés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5212080" y="43342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18 %/semaine ≈ 1–2 % brut/an grignoté en frais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352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09-CONCLUSION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3528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faut retenir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35280" y="1554480"/>
            <a:ext cx="4937760" cy="1600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638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CENTRAL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63880" y="19933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valeur économique d'un modèle ne se mesure pas à son </a:t>
            </a:r>
            <a:r>
              <a:rPr lang="en-US" sz="1400" b="1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mais à son </a:t>
            </a:r>
            <a:r>
              <a:rPr lang="en-US" sz="1400" b="1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net de coûts</a:t>
            </a: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388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R² ≈ 0 peut générer un Sharpe &gt; 1 quand les signaux sont intégrés dans une optimisation réaliste.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5592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POSSIBLES</a:t>
            </a:r>
            <a:endParaRPr lang="en-US" sz="1000" dirty="0">
              <a:solidFill>
                <a:srgbClr val="FF0000"/>
              </a:solidFill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1901952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8452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de turnover dans l'optimiseur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2240280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8452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à la place du Random Forest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2578608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84520" y="2551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macro (VIX, taux Fed, crédit)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291693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84520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sur earnings calls et news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35280" y="3429000"/>
            <a:ext cx="7863840" cy="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335280" y="3547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STRATÉGIES, UN TRIPTYQUE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1" name="Text 15"/>
          <p:cNvSpPr/>
          <p:nvPr/>
        </p:nvSpPr>
        <p:spPr>
          <a:xfrm>
            <a:off x="335280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1/N NAÏF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22" name="Text 16"/>
          <p:cNvSpPr/>
          <p:nvPr/>
        </p:nvSpPr>
        <p:spPr>
          <a:xfrm>
            <a:off x="33528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à battre en régime normal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3" name="Text 17"/>
          <p:cNvSpPr/>
          <p:nvPr/>
        </p:nvSpPr>
        <p:spPr>
          <a:xfrm>
            <a:off x="3398520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VARIANCE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24" name="Text 18"/>
          <p:cNvSpPr/>
          <p:nvPr/>
        </p:nvSpPr>
        <p:spPr>
          <a:xfrm>
            <a:off x="339852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protection en stress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5" name="Text 19"/>
          <p:cNvSpPr/>
          <p:nvPr/>
        </p:nvSpPr>
        <p:spPr>
          <a:xfrm>
            <a:off x="6004560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SHARPE ML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26" name="Text 20"/>
          <p:cNvSpPr/>
          <p:nvPr/>
        </p:nvSpPr>
        <p:spPr>
          <a:xfrm>
            <a:off x="600456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 l'alpha, paie le coût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7" name="Shape 21"/>
          <p:cNvSpPr/>
          <p:nvPr/>
        </p:nvSpPr>
        <p:spPr>
          <a:xfrm>
            <a:off x="335280" y="4572000"/>
            <a:ext cx="8473440" cy="45720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3352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3E5ABAB8-D0EF-BCF3-7AAC-BC560E73F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052" y="105826"/>
            <a:ext cx="1439356" cy="9313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1147</Words>
  <Application>Microsoft Office PowerPoint</Application>
  <PresentationFormat>Affichage à l'écran (16:9)</PresentationFormat>
  <Paragraphs>257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Allocation de Portefeuille par Machine Learning</dc:title>
  <dc:subject>PptxGenJS Presentation</dc:subject>
  <dc:creator>Mael P., Valentin M., Mathias G.</dc:creator>
  <cp:lastModifiedBy>Mathias Garnier</cp:lastModifiedBy>
  <cp:revision>7</cp:revision>
  <dcterms:created xsi:type="dcterms:W3CDTF">2026-04-19T14:41:31Z</dcterms:created>
  <dcterms:modified xsi:type="dcterms:W3CDTF">2026-04-20T08:13:08Z</dcterms:modified>
</cp:coreProperties>
</file>
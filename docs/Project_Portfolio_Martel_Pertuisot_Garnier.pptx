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66" r:id="rId9"/>
    <p:sldId id="263" r:id="rId10"/>
    <p:sldId id="267" r:id="rId11"/>
    <p:sldId id="268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chemeClr val="tx1">
                <a:lumMod val="85000"/>
                <a:lumOff val="15000"/>
                <a:alpha val="90000"/>
              </a:schemeClr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EW</c:v>
                </c:pt>
                <c:pt idx="1">
                  <c:v>Min Var</c:v>
                </c:pt>
                <c:pt idx="2">
                  <c:v>Max Sharpe ML</c:v>
                </c:pt>
                <c:pt idx="3">
                  <c:v>S&amp;P 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1.52</c:v>
                </c:pt>
                <c:pt idx="1">
                  <c:v>1.21</c:v>
                </c:pt>
                <c:pt idx="2">
                  <c:v>1.75</c:v>
                </c:pt>
                <c:pt idx="3">
                  <c:v>1.49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FC-4ABE-9168-302919926657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59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0B8A-F663-7C72-7E0C-066DED70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198ED-A365-B597-7B04-8799E8918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6F4E1-78FD-93D3-31F2-C6E91E7A9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1B674-4DEA-6566-D8B2-0FFB6956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62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F567-E760-1EFA-DFDF-4EFB54B79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55F6E-C78E-832F-9B91-ABD7E06E4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1762E-6588-F9FA-49F1-9937D7B4D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2113F-C321-410B-BF5E-218737C36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79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0337-4A03-7A2F-856C-FB49DAB7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9F46D-DB09-1BB0-C948-B8758C01B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412BD-D854-72F8-BAAD-282BAE05A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8F1C-3968-CBD8-702E-E602524F4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57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766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FINANCE   /   PROJET 5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766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de Portefeuille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766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Machine Learning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76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actions NASDAQ  |  Prédiction ML + Optimisation Markowitz  |  Backtest walk-forward 2023–2025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7660" y="3474720"/>
            <a:ext cx="109728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766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76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Mael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Pertuisot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Valentin Martel  -  Mathias Garnier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766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: Nicolas De Roux &amp; Mohamed El Fakir  -  20 avril 2026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1F82E47-CF1A-3317-228A-454A47C1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52" y="105826"/>
            <a:ext cx="1439356" cy="9313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INTRODUCTION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Un portefeuille ML bat-il le marché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portefeuille qui maximise le rendement ajusté du risque, en utilisant des signaux ML appris sur données historiques.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INTÉRESSANT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Signal/bruit très faible : les marchés sont presque efficients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R² n'est pas la bonne mesure : la vraie métrique est le Sharpe net de coûts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des limites du ML sur un cas réel de gestion d'actifs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3840480" cy="8686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937760" y="1801368"/>
            <a:ext cx="457200" cy="457200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911096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3212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01.  PRÉDICTION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5532120" y="1984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hebdo prédits par ML (Linear, Ridge, RF, GRU)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651760"/>
            <a:ext cx="3840480" cy="8686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937760" y="2852928"/>
            <a:ext cx="457200" cy="457200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962656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02.  ALLOCATION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5532120" y="3035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 3 portefeuilles (EW, Min Var, Max Sharpe ML)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3703320"/>
            <a:ext cx="3840480" cy="8686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4937760" y="3904488"/>
            <a:ext cx="457200" cy="457200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4014216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532120" y="3813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  ÉVALUATION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5532120" y="4087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drawdown, turnover sur backtest 2023–2025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675120" y="2468880"/>
            <a:ext cx="0" cy="18288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6675120" y="3520440"/>
            <a:ext cx="0" cy="18288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DATASET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50 actions NASDAQ, 8 ans, 8 secteurs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202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actions NASDAQ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large-cap, liquides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19202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5176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secteurs économiques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Tech, Santé, Conso…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19202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~2 000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jours de trading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2018 à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19202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04088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~100k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04088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panel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50 tickers × ~2000 j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5143500" cy="4114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5143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-  2018 – 2022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00700" y="3429000"/>
            <a:ext cx="3086100" cy="41148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600700" y="3429000"/>
            <a:ext cx="3086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OOS  -  2023 – 2025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72100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83880" y="3886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yfinance (Adj Close, Volume)   -   </a:t>
            </a:r>
            <a:r>
              <a:rPr lang="en-US" sz="105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Benchmark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(^GSPC)   -   </a:t>
            </a:r>
            <a:r>
              <a:rPr lang="en-US" sz="105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Nettoyage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filtre NaN &gt; 5 %, backups sectoriels, forward-fill ponctuel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03-DATA EXPLORATION</a:t>
            </a:r>
            <a:endParaRPr lang="en-US" sz="11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17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Structure et régimes de marché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704288" y="3683526"/>
            <a:ext cx="1735424" cy="198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OBSERVATIONS CLÉS</a:t>
            </a:r>
            <a:endParaRPr lang="en-US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76248" y="3932708"/>
            <a:ext cx="141333" cy="95473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15982" y="3902650"/>
            <a:ext cx="4063312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Tech et la finance </a:t>
            </a:r>
            <a:r>
              <a:rPr lang="en-US" sz="1200" b="1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dominent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1719" y="4055177"/>
            <a:ext cx="4063312" cy="35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NVDA, AAPL, MSFT tirent la performance sur 8 ans.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76248" y="4017699"/>
            <a:ext cx="3089539" cy="96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Chocs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majeurs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comme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Covid;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également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certains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évenements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mettent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en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evidence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risque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idiosycratique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de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chaque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secteur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Caractère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glissant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approche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n’éécraser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les crises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en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les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mélangeant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aux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périodes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cs typeface="Calibri" pitchFamily="34" charset="-120"/>
              </a:rPr>
              <a:t>calmes</a:t>
            </a:r>
            <a:r>
              <a:rPr lang="en-US" sz="1000" dirty="0">
                <a:latin typeface="Aptos" panose="020B0004020202020204" pitchFamily="34" charset="0"/>
                <a:cs typeface="Calibri" pitchFamily="34" charset="-120"/>
              </a:rPr>
              <a:t>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61719" y="3975343"/>
            <a:ext cx="141333" cy="95473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61719" y="4492661"/>
            <a:ext cx="141333" cy="95473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815982" y="4421677"/>
            <a:ext cx="4063312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Corrélations fortes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61719" y="4556258"/>
            <a:ext cx="4063312" cy="35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Secteurs cycliques très </a:t>
            </a:r>
            <a:r>
              <a:rPr lang="en-US" sz="10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liés</a:t>
            </a:r>
            <a:r>
              <a:rPr lang="en-US" sz="1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Utilities </a:t>
            </a:r>
            <a:r>
              <a:rPr lang="en-US" sz="10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décorrélés</a:t>
            </a:r>
            <a:r>
              <a:rPr lang="en-US" sz="1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E3883A0-AC38-654D-DF90-B608DE74CFA3}"/>
              </a:ext>
            </a:extLst>
          </p:cNvPr>
          <p:cNvSpPr/>
          <p:nvPr/>
        </p:nvSpPr>
        <p:spPr>
          <a:xfrm>
            <a:off x="6047629" y="3856001"/>
            <a:ext cx="4063312" cy="23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latin typeface="Aptos" panose="020B0004020202020204" pitchFamily="34" charset="0"/>
                <a:cs typeface="Calibri" pitchFamily="34" charset="-120"/>
              </a:rPr>
              <a:t>Périodes</a:t>
            </a:r>
            <a:r>
              <a:rPr lang="en-US" sz="1200" b="1" dirty="0">
                <a:latin typeface="Aptos" panose="020B0004020202020204" pitchFamily="34" charset="0"/>
                <a:cs typeface="Calibri" pitchFamily="34" charset="-120"/>
              </a:rPr>
              <a:t> de forte </a:t>
            </a:r>
            <a:r>
              <a:rPr lang="en-US" sz="1200" b="1" dirty="0" err="1">
                <a:latin typeface="Aptos" panose="020B0004020202020204" pitchFamily="34" charset="0"/>
                <a:cs typeface="Calibri" pitchFamily="34" charset="-120"/>
              </a:rPr>
              <a:t>volatilité</a:t>
            </a:r>
            <a:endParaRPr lang="en-US" sz="1200" dirty="0">
              <a:latin typeface="Aptos" panose="020B00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B1D51DF-B4CC-9F12-94DD-B60CEADB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51" y="1397283"/>
            <a:ext cx="4440881" cy="203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963DA69-7311-954B-BAD5-75A76F247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901" y="1697678"/>
            <a:ext cx="3780648" cy="143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3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04-FEATURE ENGINEERING</a:t>
            </a:r>
            <a:endParaRPr lang="en-US" sz="11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13 features techniques + 8 one-hot sectoriels</a:t>
            </a:r>
            <a:endParaRPr lang="en-US" sz="2800" dirty="0">
              <a:latin typeface="Aptos" panose="020B0004020202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AC3E0A4-7563-B1BC-5348-A8A9B07D6494}"/>
              </a:ext>
            </a:extLst>
          </p:cNvPr>
          <p:cNvGrpSpPr/>
          <p:nvPr/>
        </p:nvGrpSpPr>
        <p:grpSpPr>
          <a:xfrm>
            <a:off x="457200" y="1463040"/>
            <a:ext cx="8229600" cy="2834640"/>
            <a:chOff x="457200" y="1600200"/>
            <a:chExt cx="8229600" cy="2834640"/>
          </a:xfrm>
        </p:grpSpPr>
        <p:sp>
          <p:nvSpPr>
            <p:cNvPr id="7" name="Shape 5"/>
            <p:cNvSpPr/>
            <p:nvPr/>
          </p:nvSpPr>
          <p:spPr>
            <a:xfrm>
              <a:off x="457200" y="1600200"/>
              <a:ext cx="3977640" cy="137160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Shape 6"/>
            <p:cNvSpPr/>
            <p:nvPr/>
          </p:nvSpPr>
          <p:spPr>
            <a:xfrm>
              <a:off x="621792" y="1764792"/>
              <a:ext cx="457200" cy="4572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376" y="1865376"/>
              <a:ext cx="256032" cy="256032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1234440" y="1737360"/>
              <a:ext cx="3108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SIGNAUX COURT TERME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1234440" y="196596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Dynamique locale des rendements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1078992" y="2194560"/>
              <a:ext cx="3108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●"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ret_lag1 → ret_lag5</a:t>
              </a:r>
              <a:endParaRPr lang="en-US" sz="1000" dirty="0"/>
            </a:p>
            <a:p>
              <a:pPr marL="342900" indent="-342900">
                <a:buSzPct val="100000"/>
                <a:buChar char="●"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vol_10j, vol_20j (vol. réalisée)</a:t>
              </a:r>
              <a:endParaRPr lang="en-US" sz="10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709160" y="1600200"/>
              <a:ext cx="3977640" cy="137160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Shape 11"/>
            <p:cNvSpPr/>
            <p:nvPr/>
          </p:nvSpPr>
          <p:spPr>
            <a:xfrm>
              <a:off x="4873752" y="1764792"/>
              <a:ext cx="457200" cy="4572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4336" y="1865376"/>
              <a:ext cx="256032" cy="256032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5486400" y="1737360"/>
              <a:ext cx="3108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SIGNAUX TECHNIQUES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5486400" y="196596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Tendance, retournement, anomalie de momentum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18" name="Text 14"/>
            <p:cNvSpPr/>
            <p:nvPr/>
          </p:nvSpPr>
          <p:spPr>
            <a:xfrm>
              <a:off x="5330952" y="2171700"/>
              <a:ext cx="3108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●"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ma_ratio (MM5 / MM20)</a:t>
              </a:r>
              <a:endParaRPr lang="en-US" sz="1000" dirty="0"/>
            </a:p>
            <a:p>
              <a:pPr marL="342900" indent="-342900">
                <a:buSzPct val="100000"/>
                <a:buChar char="●"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RSI 14j, momentum 5j &amp; 20j</a:t>
              </a:r>
              <a:endParaRPr lang="en-US" sz="1000" dirty="0"/>
            </a:p>
          </p:txBody>
        </p:sp>
        <p:sp>
          <p:nvSpPr>
            <p:cNvPr id="19" name="Shape 15"/>
            <p:cNvSpPr/>
            <p:nvPr/>
          </p:nvSpPr>
          <p:spPr>
            <a:xfrm>
              <a:off x="457200" y="3063240"/>
              <a:ext cx="3977640" cy="137160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Shape 16"/>
            <p:cNvSpPr/>
            <p:nvPr/>
          </p:nvSpPr>
          <p:spPr>
            <a:xfrm>
              <a:off x="621792" y="3227832"/>
              <a:ext cx="457200" cy="4572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2376" y="3328416"/>
              <a:ext cx="256032" cy="256032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1234440" y="3200400"/>
              <a:ext cx="3108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SIGNAUX FLUX &amp; MARCHÉ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3" name="Text 18"/>
            <p:cNvSpPr/>
            <p:nvPr/>
          </p:nvSpPr>
          <p:spPr>
            <a:xfrm>
              <a:off x="1234440" y="342900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Exposition au facteur de marché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24" name="Text 19"/>
            <p:cNvSpPr/>
            <p:nvPr/>
          </p:nvSpPr>
          <p:spPr>
            <a:xfrm>
              <a:off x="1078992" y="3639312"/>
              <a:ext cx="3108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●"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vol_rel : volume normalisé</a:t>
              </a:r>
              <a:endParaRPr lang="en-US" sz="1000" dirty="0"/>
            </a:p>
            <a:p>
              <a:pPr marL="342900" indent="-342900">
                <a:buSzPct val="100000"/>
                <a:buChar char="●"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corr_marche (fenêtre 30j)</a:t>
              </a:r>
              <a:endParaRPr lang="en-US" sz="1000" dirty="0"/>
            </a:p>
          </p:txBody>
        </p:sp>
        <p:sp>
          <p:nvSpPr>
            <p:cNvPr id="25" name="Shape 20"/>
            <p:cNvSpPr/>
            <p:nvPr/>
          </p:nvSpPr>
          <p:spPr>
            <a:xfrm>
              <a:off x="4709160" y="3063240"/>
              <a:ext cx="3977640" cy="1371600"/>
            </a:xfrm>
            <a:prstGeom prst="rect">
              <a:avLst/>
            </a:prstGeom>
            <a:solidFill>
              <a:srgbClr val="F5F7FA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Shape 21"/>
            <p:cNvSpPr/>
            <p:nvPr/>
          </p:nvSpPr>
          <p:spPr>
            <a:xfrm>
              <a:off x="4873752" y="3227832"/>
              <a:ext cx="457200" cy="4572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2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74336" y="3328416"/>
              <a:ext cx="256032" cy="256032"/>
            </a:xfrm>
            <a:prstGeom prst="rect">
              <a:avLst/>
            </a:prstGeom>
          </p:spPr>
        </p:pic>
        <p:sp>
          <p:nvSpPr>
            <p:cNvPr id="28" name="Text 22"/>
            <p:cNvSpPr/>
            <p:nvPr/>
          </p:nvSpPr>
          <p:spPr>
            <a:xfrm>
              <a:off x="5486400" y="3200400"/>
              <a:ext cx="3108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INFORMATION SECTORIELLE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9" name="Text 23"/>
            <p:cNvSpPr/>
            <p:nvPr/>
          </p:nvSpPr>
          <p:spPr>
            <a:xfrm>
              <a:off x="5486400" y="342900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Effets sectoriels sans structure imposée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30" name="Text 24"/>
            <p:cNvSpPr/>
            <p:nvPr/>
          </p:nvSpPr>
          <p:spPr>
            <a:xfrm>
              <a:off x="5330952" y="3593592"/>
              <a:ext cx="3108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●"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One-hot 8 secteurs</a:t>
              </a:r>
              <a:endParaRPr lang="en-US" sz="1000" dirty="0"/>
            </a:p>
            <a:p>
              <a:pPr marL="342900" indent="-342900">
                <a:buSzPct val="100000"/>
                <a:buChar char="●"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Target : rendement 5j forward</a:t>
              </a:r>
              <a:endParaRPr lang="en-US" sz="1000" dirty="0"/>
            </a:p>
          </p:txBody>
        </p:sp>
      </p:grpSp>
      <p:sp>
        <p:nvSpPr>
          <p:cNvPr id="31" name="Shape 2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kern="0" spc="3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TARGET</a:t>
            </a: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cumulé sur les 5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05-MODÉLISATION</a:t>
            </a:r>
            <a:endParaRPr lang="en-US" sz="11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E3C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Quatre modèles + walk-forward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PROCÉDURE D'ENTRAÎNEMENT DES MODÈLES SUPERVISÉS</a:t>
            </a:r>
            <a:endParaRPr 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4320" y="3520440"/>
            <a:ext cx="21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430780" y="3534571"/>
            <a:ext cx="198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651760" y="3547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Scaling et </a:t>
            </a:r>
            <a:r>
              <a:rPr lang="en-US" sz="1100" b="1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4723015" y="3525012"/>
            <a:ext cx="198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4966855" y="3353562"/>
            <a:ext cx="19202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Aptos" panose="020B0004020202020204" pitchFamily="34" charset="0"/>
              </a:rPr>
              <a:t>Validation </a:t>
            </a:r>
            <a:r>
              <a:rPr lang="en-US" sz="1100" b="1" dirty="0" err="1">
                <a:latin typeface="Aptos" panose="020B0004020202020204" pitchFamily="34" charset="0"/>
              </a:rPr>
              <a:t>TimeSeriesSplit</a:t>
            </a:r>
            <a:endParaRPr lang="en-US" sz="11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</a:rPr>
              <a:t>Linear Reg a le RMSE le + </a:t>
            </a:r>
            <a:r>
              <a:rPr lang="en-US" sz="1100" dirty="0" err="1">
                <a:latin typeface="Aptos" panose="020B0004020202020204" pitchFamily="34" charset="0"/>
              </a:rPr>
              <a:t>faible</a:t>
            </a:r>
            <a:r>
              <a:rPr lang="en-US" sz="1100" dirty="0">
                <a:latin typeface="Aptos" panose="020B0004020202020204" pitchFamily="34" charset="0"/>
              </a:rPr>
              <a:t> sur </a:t>
            </a:r>
            <a:r>
              <a:rPr lang="en-US" sz="1100" dirty="0" err="1">
                <a:latin typeface="Aptos" panose="020B0004020202020204" pitchFamily="34" charset="0"/>
              </a:rPr>
              <a:t>l’échantillon</a:t>
            </a:r>
            <a:r>
              <a:rPr lang="en-US" sz="1100" dirty="0">
                <a:latin typeface="Aptos" panose="020B0004020202020204" pitchFamily="34" charset="0"/>
              </a:rPr>
              <a:t> Train</a:t>
            </a:r>
          </a:p>
        </p:txBody>
      </p:sp>
      <p:sp>
        <p:nvSpPr>
          <p:cNvPr id="40" name="Text 35"/>
          <p:cNvSpPr/>
          <p:nvPr/>
        </p:nvSpPr>
        <p:spPr>
          <a:xfrm>
            <a:off x="6992391" y="3515868"/>
            <a:ext cx="15794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7236230" y="3370361"/>
            <a:ext cx="1920240" cy="731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Test Out-of-Sample</a:t>
            </a: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 feature vol_20j </a:t>
            </a:r>
            <a:r>
              <a:rPr lang="en-US" sz="11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semble</a:t>
            </a:r>
            <a:r>
              <a:rPr lang="en-US" sz="11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être</a:t>
            </a:r>
            <a:r>
              <a:rPr lang="en-US" sz="11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la plus significative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685800" y="4251960"/>
            <a:ext cx="7909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SUR GRU</a:t>
            </a:r>
            <a:r>
              <a:rPr lang="en-US" sz="1000" b="1" kern="0" dirty="0">
                <a:solidFill>
                  <a:srgbClr val="A08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b="1" kern="0" dirty="0">
                <a:solidFill>
                  <a:srgbClr val="A08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kern="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RMSE : 0,0492 ; MAE : 0,0364 ; R² : -0,1893 </a:t>
            </a:r>
            <a:r>
              <a:rPr lang="en-US" sz="1100" kern="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pas de </a:t>
            </a:r>
            <a:r>
              <a:rPr lang="en-US" sz="1100" kern="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valeur</a:t>
            </a:r>
            <a:r>
              <a:rPr lang="en-US" sz="1100" kern="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00" kern="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ajoutée</a:t>
            </a:r>
            <a:r>
              <a:rPr lang="en-US" sz="1100" kern="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de </a:t>
            </a:r>
            <a:r>
              <a:rPr lang="en-US" sz="1100" kern="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l’approche</a:t>
            </a:r>
            <a:r>
              <a:rPr lang="en-US" sz="1100" kern="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00" kern="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temporelle</a:t>
            </a:r>
            <a:r>
              <a:rPr lang="en-US" sz="1100" kern="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100" kern="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6" name="Text 30">
            <a:extLst>
              <a:ext uri="{FF2B5EF4-FFF2-40B4-BE49-F238E27FC236}">
                <a16:creationId xmlns:a16="http://schemas.microsoft.com/office/drawing/2014/main" id="{B680758E-595D-B894-C8A7-9D6D3F781EA6}"/>
              </a:ext>
            </a:extLst>
          </p:cNvPr>
          <p:cNvSpPr/>
          <p:nvPr/>
        </p:nvSpPr>
        <p:spPr>
          <a:xfrm>
            <a:off x="548640" y="3567545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Split phases Train/Test</a:t>
            </a:r>
          </a:p>
          <a:p>
            <a:pPr marL="0" indent="0">
              <a:buNone/>
            </a:pPr>
            <a:r>
              <a:rPr lang="en-US" sz="1100" dirty="0">
                <a:latin typeface="Aptos" panose="020B0004020202020204" pitchFamily="34" charset="0"/>
                <a:cs typeface="Calibri" pitchFamily="34" charset="-120"/>
              </a:rPr>
              <a:t>Barrière = 2023</a:t>
            </a:r>
            <a:endParaRPr lang="en-US" sz="1100" dirty="0">
              <a:latin typeface="Aptos" panose="020B0004020202020204" pitchFamily="34" charset="0"/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51F16CE2-F818-68E2-42E7-46150B5C81E5}"/>
              </a:ext>
            </a:extLst>
          </p:cNvPr>
          <p:cNvGrpSpPr/>
          <p:nvPr/>
        </p:nvGrpSpPr>
        <p:grpSpPr>
          <a:xfrm>
            <a:off x="346365" y="1554480"/>
            <a:ext cx="8503920" cy="1188720"/>
            <a:chOff x="457200" y="1554480"/>
            <a:chExt cx="8503920" cy="1188720"/>
          </a:xfrm>
        </p:grpSpPr>
        <p:sp>
          <p:nvSpPr>
            <p:cNvPr id="7" name="Shape 5"/>
            <p:cNvSpPr/>
            <p:nvPr/>
          </p:nvSpPr>
          <p:spPr>
            <a:xfrm>
              <a:off x="457200" y="1554480"/>
              <a:ext cx="1920240" cy="118872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1554480"/>
              <a:ext cx="1920240" cy="3200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155448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dirty="0">
                  <a:solidFill>
                    <a:srgbClr val="FFFFFF"/>
                  </a:solidFill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LINEAR REG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199339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latin typeface="Calibri" pitchFamily="34" charset="0"/>
                  <a:cs typeface="Calibri" pitchFamily="34" charset="-120"/>
                </a:rPr>
                <a:t>RMSE : 0,0452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651760" y="1554480"/>
              <a:ext cx="1920240" cy="118872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Shape 11"/>
            <p:cNvSpPr/>
            <p:nvPr/>
          </p:nvSpPr>
          <p:spPr>
            <a:xfrm>
              <a:off x="2651760" y="1554480"/>
              <a:ext cx="1920240" cy="3200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 12"/>
            <p:cNvSpPr/>
            <p:nvPr/>
          </p:nvSpPr>
          <p:spPr>
            <a:xfrm>
              <a:off x="2651760" y="155448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dirty="0">
                  <a:solidFill>
                    <a:srgbClr val="FFFFFF"/>
                  </a:solidFill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RIDGE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743200" y="199339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latin typeface="Calibri" pitchFamily="34" charset="0"/>
                  <a:cs typeface="Calibri" pitchFamily="34" charset="-120"/>
                </a:rPr>
                <a:t>RMSE : 0,0452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743200" y="2331720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846320" y="1554480"/>
              <a:ext cx="1920240" cy="118872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Shape 16"/>
            <p:cNvSpPr/>
            <p:nvPr/>
          </p:nvSpPr>
          <p:spPr>
            <a:xfrm>
              <a:off x="4846320" y="1554480"/>
              <a:ext cx="1920240" cy="3200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17"/>
            <p:cNvSpPr/>
            <p:nvPr/>
          </p:nvSpPr>
          <p:spPr>
            <a:xfrm>
              <a:off x="4846320" y="155448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dirty="0">
                  <a:solidFill>
                    <a:srgbClr val="FFFFFF"/>
                  </a:solidFill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RANDOM FOREST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4937760" y="199339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latin typeface="Calibri" pitchFamily="34" charset="0"/>
                  <a:cs typeface="Calibri" pitchFamily="34" charset="-120"/>
                </a:rPr>
                <a:t>RMSE : 0,0453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040880" y="1554480"/>
              <a:ext cx="1920240" cy="118872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Shape 21"/>
            <p:cNvSpPr/>
            <p:nvPr/>
          </p:nvSpPr>
          <p:spPr>
            <a:xfrm>
              <a:off x="7040880" y="1554480"/>
              <a:ext cx="1920240" cy="32004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 22"/>
            <p:cNvSpPr/>
            <p:nvPr/>
          </p:nvSpPr>
          <p:spPr>
            <a:xfrm>
              <a:off x="7040880" y="155448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300" dirty="0">
                  <a:solidFill>
                    <a:srgbClr val="FFFFFF"/>
                  </a:solidFill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GRU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132320" y="199339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Réseau récurrent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132320" y="2331720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États </a:t>
              </a:r>
              <a:r>
                <a:rPr lang="en-US" sz="1000" dirty="0" err="1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cachés</a:t>
              </a:r>
              <a:r>
                <a:rPr lang="en-US" sz="100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=32, window=10</a:t>
              </a:r>
              <a:endParaRPr lang="en-US" sz="1000" dirty="0"/>
            </a:p>
          </p:txBody>
        </p:sp>
        <p:sp>
          <p:nvSpPr>
            <p:cNvPr id="31" name="Text 13">
              <a:extLst>
                <a:ext uri="{FF2B5EF4-FFF2-40B4-BE49-F238E27FC236}">
                  <a16:creationId xmlns:a16="http://schemas.microsoft.com/office/drawing/2014/main" id="{D56B2E88-E53A-7728-DBE3-73078DB84862}"/>
                </a:ext>
              </a:extLst>
            </p:cNvPr>
            <p:cNvSpPr/>
            <p:nvPr/>
          </p:nvSpPr>
          <p:spPr>
            <a:xfrm>
              <a:off x="2743200" y="2324100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latin typeface="Calibri" pitchFamily="34" charset="0"/>
                  <a:cs typeface="Calibri" pitchFamily="34" charset="-120"/>
                </a:rPr>
                <a:t>R² : 0,0018</a:t>
              </a:r>
              <a:endParaRPr lang="en-US" sz="1000" dirty="0"/>
            </a:p>
          </p:txBody>
        </p:sp>
        <p:sp>
          <p:nvSpPr>
            <p:cNvPr id="35" name="Text 18">
              <a:extLst>
                <a:ext uri="{FF2B5EF4-FFF2-40B4-BE49-F238E27FC236}">
                  <a16:creationId xmlns:a16="http://schemas.microsoft.com/office/drawing/2014/main" id="{2E500583-B4F9-6C49-79E7-20616820451D}"/>
                </a:ext>
              </a:extLst>
            </p:cNvPr>
            <p:cNvSpPr/>
            <p:nvPr/>
          </p:nvSpPr>
          <p:spPr>
            <a:xfrm>
              <a:off x="4937760" y="2322576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latin typeface="Calibri" pitchFamily="34" charset="0"/>
                  <a:cs typeface="Calibri" pitchFamily="34" charset="-120"/>
                </a:rPr>
                <a:t>R² : 0,0008</a:t>
              </a:r>
              <a:endParaRPr lang="en-US" sz="10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F50B537C-1EED-787F-3755-387C75530619}"/>
                </a:ext>
              </a:extLst>
            </p:cNvPr>
            <p:cNvSpPr/>
            <p:nvPr/>
          </p:nvSpPr>
          <p:spPr>
            <a:xfrm>
              <a:off x="548640" y="232867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latin typeface="Calibri" pitchFamily="34" charset="0"/>
                  <a:cs typeface="Calibri" pitchFamily="34" charset="-120"/>
                </a:rPr>
                <a:t>R² : 0,0018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06-STRATÉGIES &amp; ÉVALUATION</a:t>
            </a:r>
            <a:endParaRPr lang="en-US" sz="11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5379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Trois portefeuilles, une frontière, cinq métriques</a:t>
            </a:r>
            <a:endParaRPr lang="en-US" sz="2400" dirty="0">
              <a:latin typeface="Aptos" panose="020B0004020202020204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376172"/>
          <a:ext cx="4585335" cy="1600200"/>
        </p:xfrm>
        <a:graphic>
          <a:graphicData uri="http://schemas.openxmlformats.org/drawingml/2006/table">
            <a:tbl>
              <a:tblPr/>
              <a:tblGrid>
                <a:gridCol w="120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</a:t>
                      </a:r>
                      <a:endParaRPr lang="en-US" sz="10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</a:t>
                      </a:r>
                      <a:endParaRPr lang="en-US" sz="10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?</a:t>
                      </a:r>
                      <a:endParaRPr lang="en-US" sz="10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Pondération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égale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des 50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Sert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benchmark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défensif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Sharpe (ML)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conjointe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rendements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prédits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&amp;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estimé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457200" y="31409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ONTRAINTES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: pas de vente à </a:t>
            </a:r>
            <a:r>
              <a:rPr lang="en-US" sz="10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découvert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somme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0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pondérations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= 1, </a:t>
            </a:r>
            <a:r>
              <a:rPr lang="en-US" sz="10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rebalancement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hebdomadaire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68696" y="1338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dirty="0">
                <a:solidFill>
                  <a:srgbClr val="FF000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MÉTRIQUES D'ÉVALUATION</a:t>
            </a:r>
            <a:endParaRPr lang="en-US" sz="9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14DA3E2-ECBA-8652-4221-28AE0FFA965C}"/>
              </a:ext>
            </a:extLst>
          </p:cNvPr>
          <p:cNvGrpSpPr/>
          <p:nvPr/>
        </p:nvGrpSpPr>
        <p:grpSpPr>
          <a:xfrm>
            <a:off x="5568696" y="1566672"/>
            <a:ext cx="3383280" cy="2478024"/>
            <a:chOff x="5532120" y="1783080"/>
            <a:chExt cx="3383280" cy="2478024"/>
          </a:xfrm>
        </p:grpSpPr>
        <p:sp>
          <p:nvSpPr>
            <p:cNvPr id="10" name="Shape 7"/>
            <p:cNvSpPr/>
            <p:nvPr/>
          </p:nvSpPr>
          <p:spPr>
            <a:xfrm>
              <a:off x="5532120" y="1856232"/>
              <a:ext cx="73152" cy="32004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5715000" y="1783080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Rendement annualisé</a:t>
              </a:r>
              <a:endParaRPr lang="en-US" sz="11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5715000" y="1984248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économique</a:t>
              </a:r>
              <a:endParaRPr lang="en-US" sz="95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532120" y="2368296"/>
              <a:ext cx="73152" cy="32004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5715000" y="2295144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Volatilité annualisée</a:t>
              </a:r>
              <a:endParaRPr lang="en-US" sz="11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715000" y="2496312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risque (std × √252)</a:t>
              </a:r>
              <a:endParaRPr lang="en-US" sz="9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5532120" y="2880360"/>
              <a:ext cx="73152" cy="32004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715000" y="2807208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Ratio de Sharpe</a:t>
              </a:r>
              <a:endParaRPr lang="en-US" sz="11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715000" y="3008376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perf. ajustée du risque</a:t>
              </a:r>
              <a:endParaRPr lang="en-US" sz="95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5532120" y="3392424"/>
              <a:ext cx="73152" cy="32004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5715000" y="331927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Maximum Drawdown</a:t>
              </a:r>
              <a:endParaRPr lang="en-US" sz="11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715000" y="3520440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pire</a:t>
              </a:r>
              <a:r>
                <a:rPr lang="en-US" sz="950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50" i="1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perte</a:t>
              </a:r>
              <a:endParaRPr lang="en-US" sz="95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5532120" y="3904488"/>
              <a:ext cx="73152" cy="320040"/>
            </a:xfrm>
            <a:prstGeom prst="rect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5715000" y="383133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Turnover</a:t>
              </a:r>
              <a:endParaRPr lang="en-US" sz="11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5715000" y="4032504"/>
              <a:ext cx="3200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rotation ≈ frais de transaction</a:t>
              </a:r>
              <a:endParaRPr lang="en-US" sz="950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E1B79EB-11F4-4C47-5FA8-1FC1FED11653}"/>
              </a:ext>
            </a:extLst>
          </p:cNvPr>
          <p:cNvGrpSpPr/>
          <p:nvPr/>
        </p:nvGrpSpPr>
        <p:grpSpPr>
          <a:xfrm>
            <a:off x="457200" y="3532632"/>
            <a:ext cx="4754880" cy="1360932"/>
            <a:chOff x="457200" y="3576828"/>
            <a:chExt cx="4639056" cy="1360932"/>
          </a:xfrm>
        </p:grpSpPr>
        <p:sp>
          <p:nvSpPr>
            <p:cNvPr id="25" name="Shape 22"/>
            <p:cNvSpPr/>
            <p:nvPr/>
          </p:nvSpPr>
          <p:spPr>
            <a:xfrm>
              <a:off x="457200" y="3614928"/>
              <a:ext cx="4639056" cy="13228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>
              <a:solidFill>
                <a:srgbClr val="0A1E3C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 23"/>
            <p:cNvSpPr/>
            <p:nvPr/>
          </p:nvSpPr>
          <p:spPr>
            <a:xfrm>
              <a:off x="564255" y="3576828"/>
              <a:ext cx="4424946" cy="13228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000" b="1" kern="0" dirty="0">
                  <a:solidFill>
                    <a:srgbClr val="FF0000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FRONTIÈRE EFFICIENTE:</a:t>
              </a:r>
              <a:r>
                <a:rPr lang="en-US" sz="1000" b="1" kern="0" dirty="0">
                  <a:solidFill>
                    <a:srgbClr val="C9A961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  </a:t>
              </a:r>
              <a:r>
                <a:rPr lang="en-US" sz="1100" i="1" dirty="0">
                  <a:solidFill>
                    <a:srgbClr val="FFFFFF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toute action seule est dominée par un portefeuille diversifié : gain clair de la diversification de Markowitz.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1D455-648E-2363-E34A-8A5DDE5F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FDF8D0-B3AF-15AB-E8DB-2821DE0FE8BE}"/>
              </a:ext>
            </a:extLst>
          </p:cNvPr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STRATÉGIES &amp; ÉVALUATION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7C2396-4149-5453-D385-A418D6925220}"/>
              </a:ext>
            </a:extLst>
          </p:cNvPr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Trois portefeuilles, une frontière, cinq métriques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73E1D82-AB9A-BDA8-7468-843BAE50F7DA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6E84B4-A971-3134-AE5F-7C991C036BDD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6C119D-01D5-E825-5E25-C08038734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6" y="1362456"/>
            <a:ext cx="6580814" cy="356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95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RÉSULTATS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Backtest out-of-sample 2023 – 2025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79917"/>
              </p:ext>
            </p:extLst>
          </p:nvPr>
        </p:nvGraphicFramePr>
        <p:xfrm>
          <a:off x="457200" y="1508760"/>
          <a:ext cx="5760720" cy="2377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0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Sharpe (ML)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Rendement annualisé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26,2 %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Volatilité annualisée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11,3 %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de 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kern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−15,8 %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−11,6 %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−16,6 %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1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Turnover hebdo 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208520" y="1501140"/>
            <a:ext cx="1303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SHARPE</a:t>
            </a:r>
            <a:endParaRPr lang="en-US" sz="900" dirty="0">
              <a:solidFill>
                <a:srgbClr val="FF0000"/>
              </a:solidFill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141601221"/>
              </p:ext>
            </p:extLst>
          </p:nvPr>
        </p:nvGraphicFramePr>
        <p:xfrm>
          <a:off x="6309360" y="1783080"/>
          <a:ext cx="2513692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85800" y="4389120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sur 2023–2025, Max Sharpe ML génère le meilleur Sharpe (1,75). Equal Weight reste robuste (1,52). Min Var protège en drawdown (−10,4 %). Max Sharpe paie 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 de turnover Hebdo,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frais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performance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serait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affectée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065F5-B615-BDC8-DFFD-72FE6407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4A49D5-CE57-8445-81BA-065240A83241}"/>
              </a:ext>
            </a:extLst>
          </p:cNvPr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RÉSULTATS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82430E-1FE1-DE66-98BE-DA86635C3BA1}"/>
              </a:ext>
            </a:extLst>
          </p:cNvPr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Backtest out-of-sample 2023 – 2025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575E78-0DF0-4D60-D87C-C53EB971F9A9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02C2C7-0B59-3666-FFF9-F4C8EFC8B9E3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89B6D66-0625-9EF7-50ED-45D712F20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" y="1362456"/>
            <a:ext cx="4456739" cy="374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EEE475A-E704-14EC-DED5-98A153A6E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799" y="1379220"/>
            <a:ext cx="4572001" cy="374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248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CC6EC-481D-6C74-D4F6-50933503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67C377-2B69-1A98-E967-20AC9D228148}"/>
              </a:ext>
            </a:extLst>
          </p:cNvPr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RÉSULTATS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3CAAD1-981D-6CD5-1D86-02F7D7875F48}"/>
              </a:ext>
            </a:extLst>
          </p:cNvPr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Backtest out-of-sample 2023 – 2025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2EAFA4-15D7-BC22-D779-6A4DB20DDCEC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519DFE-36A2-5501-7CD0-C1001CCAA6AF}"/>
              </a:ext>
            </a:extLst>
          </p:cNvPr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4C8708DF-1678-0142-B5A2-D69BE14A0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627684"/>
              </p:ext>
            </p:extLst>
          </p:nvPr>
        </p:nvGraphicFramePr>
        <p:xfrm>
          <a:off x="5411541" y="3314700"/>
          <a:ext cx="3381234" cy="15087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27078">
                  <a:extLst>
                    <a:ext uri="{9D8B030D-6E8A-4147-A177-3AD203B41FA5}">
                      <a16:colId xmlns:a16="http://schemas.microsoft.com/office/drawing/2014/main" val="4061637377"/>
                    </a:ext>
                  </a:extLst>
                </a:gridCol>
                <a:gridCol w="1127078">
                  <a:extLst>
                    <a:ext uri="{9D8B030D-6E8A-4147-A177-3AD203B41FA5}">
                      <a16:colId xmlns:a16="http://schemas.microsoft.com/office/drawing/2014/main" val="3846935557"/>
                    </a:ext>
                  </a:extLst>
                </a:gridCol>
                <a:gridCol w="1127078">
                  <a:extLst>
                    <a:ext uri="{9D8B030D-6E8A-4147-A177-3AD203B41FA5}">
                      <a16:colId xmlns:a16="http://schemas.microsoft.com/office/drawing/2014/main" val="3927894134"/>
                    </a:ext>
                  </a:extLst>
                </a:gridCol>
              </a:tblGrid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Secteur</a:t>
                      </a:r>
                      <a:endParaRPr lang="en-GB" sz="105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Min Variance</a:t>
                      </a:r>
                      <a:endParaRPr lang="en-GB" sz="105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Max Sharpe (ML)</a:t>
                      </a:r>
                      <a:endParaRPr lang="en-GB" sz="105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60914814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Consommation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23,38%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23,17%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21292879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Technologie</a:t>
                      </a:r>
                      <a:endParaRPr lang="en-GB" sz="105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15,11%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18,95%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6926848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Santé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14,71%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15,20%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4790142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Utilities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14,15%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13,52%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54433907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Industrie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7,84%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6,68%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033381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Télécom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8,33%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8,49%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29946520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Énergie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8,75%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8,65%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19387390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Finance</a:t>
                      </a:r>
                      <a:endParaRPr lang="en-GB" sz="1050" b="1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7,73%</a:t>
                      </a:r>
                      <a:endParaRPr lang="en-GB" sz="1050" b="0" i="0" u="none" strike="noStrike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5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5,34%</a:t>
                      </a:r>
                      <a:endParaRPr lang="en-GB" sz="105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86476549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FDE7DFF-D63D-83CF-B376-7A233B5D7AF8}"/>
              </a:ext>
            </a:extLst>
          </p:cNvPr>
          <p:cNvSpPr txBox="1"/>
          <p:nvPr/>
        </p:nvSpPr>
        <p:spPr>
          <a:xfrm>
            <a:off x="5411541" y="3088371"/>
            <a:ext cx="34970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b="1" i="0" dirty="0">
                <a:solidFill>
                  <a:srgbClr val="1F1F1F"/>
                </a:solidFill>
                <a:effectLst/>
                <a:latin typeface="+mj-lt"/>
              </a:rPr>
              <a:t>Poids moyen par secteur sur la période du </a:t>
            </a:r>
            <a:r>
              <a:rPr lang="fr-FR" sz="800" b="1" i="0" dirty="0" err="1">
                <a:solidFill>
                  <a:srgbClr val="1F1F1F"/>
                </a:solidFill>
                <a:effectLst/>
                <a:latin typeface="+mj-lt"/>
              </a:rPr>
              <a:t>backtest</a:t>
            </a:r>
            <a:r>
              <a:rPr lang="fr-FR" sz="800" b="1" i="0" dirty="0">
                <a:solidFill>
                  <a:srgbClr val="1F1F1F"/>
                </a:solidFill>
                <a:effectLst/>
                <a:latin typeface="+mj-lt"/>
              </a:rPr>
              <a:t> :</a:t>
            </a:r>
            <a:endParaRPr lang="en-GB" sz="800" b="1" dirty="0">
              <a:latin typeface="+mj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73C1C48-2EF3-4B6D-A222-B1A86BDF0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49" y="1400556"/>
            <a:ext cx="4958775" cy="362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9E31797-22BA-87BF-43A6-3FD4E6F2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131" y="1446276"/>
            <a:ext cx="3954780" cy="168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38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 DISCUSSION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Ce qui marche, ce qui ne marche 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21040" y="320040"/>
            <a:ext cx="411480" cy="41148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3210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11480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FORTS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969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1031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</a:t>
            </a:r>
            <a:r>
              <a:rPr lang="en-US" sz="115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surperformance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23591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 ratio de </a:t>
            </a:r>
            <a:r>
              <a:rPr lang="en-US" sz="9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et un </a:t>
            </a:r>
            <a:r>
              <a:rPr lang="en-US" sz="9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rendement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plus important </a:t>
            </a:r>
            <a:r>
              <a:rPr lang="en-US" sz="9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l’indice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reference.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8064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7614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temporelle rigoureuse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14400" y="3017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+ walk-forward trimestriel, zéro data leakage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5643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3419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stable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914400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Shrinkage Ledoit-Wolf 60j - évite la singularité quand N ≈ T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40782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prouvée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914400" y="43342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efficiente domine toutes les actions individuelles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4937760" y="1554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3969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2080" y="2103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R² très faible (structurel)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212080" y="2359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Bruit domine le signal - normal en finance efficient-ish</a:t>
            </a:r>
            <a:endParaRPr lang="en-US" sz="9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98064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12080" y="2761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GRU sans gain net vs RF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21208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RMSE GRU=0,049 vs RF=0,045 — features déjà temporelles, peu de données</a:t>
            </a:r>
            <a:endParaRPr lang="en-US" sz="9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56432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12080" y="3419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Max Sharpe bruité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5212080" y="3675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μ_ML imprécis → turnover élevé (Michaud 1989)</a:t>
            </a:r>
            <a:endParaRPr lang="en-US" sz="95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14800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12080" y="4078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Coûts transaction ignorés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5212080" y="43342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30 %/semaine ≈ 2–3 % brut/an grignoté en frais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52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09-CONCLUSION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3528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5280" y="1554480"/>
            <a:ext cx="4937760" cy="1600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638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CENTRAL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63880" y="19933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valeur économique d'un modèle ne se mesure pas à son </a:t>
            </a:r>
            <a:r>
              <a:rPr lang="en-US" sz="14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mais à son </a:t>
            </a:r>
            <a:r>
              <a:rPr lang="en-US" sz="14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net de coûts</a:t>
            </a: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388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R² ≈ 0 peut générer un Sharpe de 1,75 quand les signaux sont intégrés dans une optimisation réaliste.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5592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POSSIBLES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1901952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8452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de turnover dans l'optimiseur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224028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8452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à la place du Random Forest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2578608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84520" y="2551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macro (VIX, taux Fed, crédit)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291693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8452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sur earnings calls et news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35280" y="3429000"/>
            <a:ext cx="7863840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335280" y="3547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STRATÉGIES, UN TRIPTYQUE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33528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 NAÏF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33528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à battre en régime normal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339852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VARIANCE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339852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protection en stress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Text 19"/>
          <p:cNvSpPr/>
          <p:nvPr/>
        </p:nvSpPr>
        <p:spPr>
          <a:xfrm>
            <a:off x="600456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SHARPE ML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600456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 l'alpha, paie le coût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Shape 21"/>
          <p:cNvSpPr/>
          <p:nvPr/>
        </p:nvSpPr>
        <p:spPr>
          <a:xfrm>
            <a:off x="335280" y="4572000"/>
            <a:ext cx="8473440" cy="45720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352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3E5ABAB8-D0EF-BCF3-7AAC-BC560E73F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052" y="105826"/>
            <a:ext cx="1439356" cy="931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1143</Words>
  <Application>Microsoft Office PowerPoint</Application>
  <PresentationFormat>Affichage à l'écran (16:9)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Allocation de Portefeuille par Machine Learning</dc:title>
  <dc:subject>PptxGenJS Presentation</dc:subject>
  <dc:creator>Mael P., Valentin M., Mathias G.</dc:creator>
  <cp:lastModifiedBy>Mathias Garnier</cp:lastModifiedBy>
  <cp:revision>18</cp:revision>
  <dcterms:created xsi:type="dcterms:W3CDTF">2026-04-19T14:41:31Z</dcterms:created>
  <dcterms:modified xsi:type="dcterms:W3CDTF">2026-04-20T19:44:39Z</dcterms:modified>
</cp:coreProperties>
</file>